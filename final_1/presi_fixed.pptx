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Skeletal-Part Representation and Depositional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Study advances to date — a catch-up from first principles</a:t>
            </a:r>
            <a:br/>
            <a:br/>
            <a:r>
              <a:rPr/>
              <a:t>Research update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are we studying skeletal-part representation?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Archaeological question:</a:t>
            </a:r>
            <a:r>
              <a:rPr/>
              <a:t> can the anatomical pattern of a human skeletal assemblage tell us something reproducible about how that accumulation formed?</a:t>
            </a:r>
          </a:p>
          <a:p>
            <a:pPr lvl="0"/>
            <a:r>
              <a:rPr/>
              <a:t>Formation processes do not leave the same anatomical signature.</a:t>
            </a:r>
          </a:p>
          <a:p>
            <a:pPr lvl="0"/>
            <a:r>
              <a:rPr/>
              <a:t>Whole bodies, selectively transported remains, carnivore accumulations, geological transport, and intensive anthropogenic processing can produce different representation profiles.</a:t>
            </a:r>
          </a:p>
          <a:p>
            <a:pPr lvl="0"/>
            <a:r>
              <a:rPr/>
              <a:t>The goal is </a:t>
            </a:r>
            <a:r>
              <a:rPr b="1"/>
              <a:t>not</a:t>
            </a:r>
            <a:r>
              <a:rPr/>
              <a:t> to read intention directly from bones.</a:t>
            </a:r>
          </a:p>
          <a:p>
            <a:pPr lvl="0"/>
            <a:r>
              <a:rPr/>
              <a:t>The goal is to quantify how closely an observed assemblage resembles known reference distributions.</a:t>
            </a:r>
          </a:p>
          <a:p>
            <a:pPr lvl="0" indent="0" marL="1270000">
              <a:buNone/>
            </a:pPr>
            <a:r>
              <a:rPr sz="2000" b="1"/>
              <a:t>Working idea:</a:t>
            </a:r>
            <a:r>
              <a:rPr sz="2000"/>
              <a:t> depositional and taphonomic processes affect which parts enter, survive, are recovered, and remain represented.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principles: the main abundance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MNE — Minimum Number of Elements</a:t>
            </a:r>
            <a:br/>
            <a:r>
              <a:rPr/>
              <a:t>Minimum number of anatomical elements needed to explain the observed fragments.</a:t>
            </a:r>
          </a:p>
          <a:p>
            <a:pPr lvl="0" indent="0" marL="0">
              <a:buNone/>
            </a:pPr>
            <a:r>
              <a:rPr b="1"/>
              <a:t>MNI — Minimum Number of Individuals</a:t>
            </a:r>
            <a:br/>
            <a:r>
              <a:rPr/>
              <a:t>Minimum number of individuals needed to account for the represented remains.</a:t>
            </a:r>
          </a:p>
          <a:p>
            <a:pPr lvl="0" indent="0" marL="0">
              <a:buNone/>
            </a:pPr>
            <a:r>
              <a:rPr b="1"/>
              <a:t>MNAU — Minimum Number of Anatomical Units</a:t>
            </a:r>
            <a:br/>
            <a:r>
              <a:rPr/>
              <a:t>Standardizes an element count by how many of that anatomical unit occur in a complete skeleton.</a:t>
            </a:r>
          </a:p>
          <a:p>
            <a:pPr lvl="0" indent="0" marL="0">
              <a:buNone/>
            </a:pPr>
            <a:r>
              <a:rPr/>
              <a:t>[ MNAU_j= ]</a:t>
            </a:r>
          </a:p>
          <a:p>
            <a:pPr lvl="0" indent="0" marL="0">
              <a:buNone/>
            </a:pPr>
            <a:r>
              <a:rPr b="1"/>
              <a:t>%MNAU / adjusted proportional representation</a:t>
            </a:r>
            <a:br/>
            <a:r>
              <a:rPr/>
              <a:t>MNI-normalized skeletal-part representation. It retains both </a:t>
            </a:r>
            <a:r>
              <a:rPr b="1"/>
              <a:t>how much</a:t>
            </a:r>
            <a:r>
              <a:rPr/>
              <a:t> of the skeleton is represented and </a:t>
            </a:r>
            <a:r>
              <a:rPr b="1"/>
              <a:t>where</a:t>
            </a:r>
            <a:r>
              <a:rPr/>
              <a:t> representation occurs.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 and ReMNAU: what is actually being measured?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SPR — Skeletal-Part Representation</a:t>
            </a:r>
            <a:br/>
            <a:r>
              <a:rPr/>
              <a:t>The anatomical distribution of represented skeletal elements in an assemblage.</a:t>
            </a:r>
          </a:p>
          <a:p>
            <a:pPr lvl="0" indent="0" marL="0">
              <a:buNone/>
            </a:pPr>
            <a:r>
              <a:rPr b="1"/>
              <a:t>%MNAU asks:</a:t>
            </a:r>
            <a:r>
              <a:rPr/>
              <a:t> </a:t>
            </a:r>
            <a:r>
              <a:rPr i="1"/>
              <a:t>How much of each skeletal part is represented?</a:t>
            </a:r>
          </a:p>
          <a:p>
            <a:pPr lvl="0" indent="0" marL="0">
              <a:buNone/>
            </a:pPr>
            <a:r>
              <a:rPr b="1"/>
              <a:t>ReMNAU asks:</a:t>
            </a:r>
            <a:r>
              <a:rPr/>
              <a:t> </a:t>
            </a:r>
            <a:r>
              <a:rPr i="1"/>
              <a:t>Given what survives, how is that representation distributed across the body?</a:t>
            </a:r>
          </a:p>
          <a:p>
            <a:pPr lvl="0" indent="0" marL="0">
              <a:buNone/>
            </a:pPr>
            <a:r>
              <a:rPr/>
              <a:t>For relative representation:</a:t>
            </a:r>
          </a:p>
          <a:p>
            <a:pPr lvl="0" indent="0" marL="0">
              <a:buNone/>
            </a:pPr>
            <a:r>
              <a:rPr/>
              <a:t>[ p_{ij}= ]</a:t>
            </a:r>
          </a:p>
          <a:p>
            <a:pPr lvl="0" indent="0" marL="0">
              <a:buNone/>
            </a:pPr>
            <a:r>
              <a:rPr/>
              <a:t>The multivariate workflow uses a Hellinger transform:</a:t>
            </a:r>
          </a:p>
          <a:p>
            <a:pPr lvl="0" indent="0" marL="0">
              <a:buNone/>
            </a:pPr>
            <a:r>
              <a:rPr/>
              <a:t>[ h_{ij}= ]</a:t>
            </a:r>
          </a:p>
          <a:p>
            <a:pPr lvl="0" indent="0" marL="0">
              <a:buNone/>
            </a:pPr>
            <a:r>
              <a:rPr/>
              <a:t>This reduces the overall magnitude signal and emphasizes </a:t>
            </a:r>
            <a:r>
              <a:rPr b="1"/>
              <a:t>relative anatomical configuration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core ideas: abundance and evenness</a:t>
            </a:r>
          </a:p>
        </p:txBody>
      </p:sp>
      <p:pic>
        <p:nvPicPr>
          <p:cNvPr descr="presi_fixed_files/figure-pptx/fig-abundance-even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Mean abundance, C:</a:t>
            </a:r>
            <a:r>
              <a:rPr/>
              <a:t> “How much of the body is represented overall?”</a:t>
            </a:r>
            <a:br/>
            <a:r>
              <a:rPr b="1"/>
              <a:t>Evenness, E:</a:t>
            </a:r>
            <a:r>
              <a:rPr/>
              <a:t> “How evenly is the represented material distributed anatomically?”</a:t>
            </a:r>
          </a:p>
          <a:p>
            <a:pPr lvl="0" indent="0" marL="0">
              <a:buNone/>
            </a:pPr>
            <a:r>
              <a:rPr/>
              <a:t>Two assemblages can have similar overall abundance but very different anatomical concentration.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inferential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      ]</a:t>
            </a:r>
          </a:p>
          <a:p>
            <a:pPr lvl="0" indent="0" marL="0">
              <a:buNone/>
            </a:pPr>
            <a:r>
              <a:rPr/>
              <a:t>The strongest direct inference from SPR concerns:</a:t>
            </a:r>
          </a:p>
          <a:p>
            <a:pPr lvl="0" indent="0" marL="0">
              <a:buNone/>
            </a:pPr>
            <a:r>
              <a:rPr b="1"/>
              <a:t>whole-body representation, anatomical retention, and selectivity.</a:t>
            </a:r>
          </a:p>
          <a:p>
            <a:pPr lvl="0" indent="0" marL="0">
              <a:buNone/>
            </a:pPr>
            <a:r>
              <a:rPr/>
              <a:t>It does </a:t>
            </a:r>
            <a:r>
              <a:rPr b="1"/>
              <a:t>not</a:t>
            </a:r>
            <a:r>
              <a:rPr/>
              <a:t> directly measure:</a:t>
            </a:r>
          </a:p>
          <a:p>
            <a:pPr lvl="0" indent="0" marL="0">
              <a:buNone/>
            </a:pPr>
            <a:r>
              <a:rPr b="1"/>
              <a:t>intention, ritual meaning, or a uniquely funerary behaviour.</a:t>
            </a:r>
          </a:p>
          <a:p>
            <a:pPr lvl="0" indent="0" marL="0">
              <a:buNone/>
            </a:pPr>
            <a:r>
              <a:rPr b="1"/>
              <a:t>Equifinality:</a:t>
            </a:r>
            <a:r>
              <a:rPr/>
              <a:t> different formation processes can sometimes produce similar SPR profiles.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archaeological reference dataset</a:t>
            </a:r>
          </a:p>
        </p:txBody>
      </p:sp>
      <p:pic>
        <p:nvPicPr>
          <p:cNvPr descr="presi_fixed_files/figure-pptx/fig-datase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database: </a:t>
            </a:r>
            <a:r>
              <a:rPr b="1"/>
              <a:t>411 rows from 152 parent sites</a:t>
            </a:r>
            <a:r>
              <a:rPr/>
              <a:t>.</a:t>
            </a:r>
          </a:p>
          <a:p>
            <a:pPr lvl="0"/>
            <a:r>
              <a:rPr/>
              <a:t>The </a:t>
            </a:r>
            <a:r>
              <a:rPr b="1"/>
              <a:t>parent site</a:t>
            </a:r>
            <a:r>
              <a:rPr/>
              <a:t> is the independent archaeological unit.</a:t>
            </a:r>
          </a:p>
          <a:p>
            <a:pPr lvl="0"/>
            <a:r>
              <a:rPr/>
              <a:t>Restricted four-process benchmark: </a:t>
            </a:r>
            <a:r>
              <a:rPr b="1"/>
              <a:t>103 parent sites</a:t>
            </a:r>
            <a:r>
              <a:rPr/>
              <a:t>.</a:t>
            </a:r>
          </a:p>
          <a:p>
            <a:pPr lvl="0"/>
            <a:r>
              <a:rPr/>
              <a:t>Reference processes: Funerary Context, Cannibalism / anthropogenic processing, Carnivore-related, Geological transport.</a:t>
            </a:r>
          </a:p>
          <a:p>
            <a:pPr lvl="0"/>
            <a:r>
              <a:rPr/>
              <a:t>Unknown/uncertain assemblages are projected after model fitting rather than treated as known training labels.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Seven ways of representing the same archaeological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 only</a:t>
            </a:r>
            <a:r>
              <a:rPr/>
              <a:t> — mean whole-body abundance.</a:t>
            </a:r>
          </a:p>
          <a:p>
            <a:pPr lvl="0" indent="-342900" marL="342900">
              <a:buAutoNum type="arabicPeriod"/>
            </a:pPr>
            <a:r>
              <a:rPr b="1"/>
              <a:t>Evenness only</a:t>
            </a:r>
            <a:r>
              <a:rPr/>
              <a:t> — anatomical regularity/concentration.</a:t>
            </a:r>
          </a:p>
          <a:p>
            <a:pPr lvl="0" indent="-342900" marL="342900">
              <a:buAutoNum type="arabicPeriod"/>
            </a:pPr>
            <a:r>
              <a:rPr b="1"/>
              <a:t>C + evenness</a:t>
            </a:r>
            <a:r>
              <a:rPr/>
              <a:t> — simple, interpretable two-variable model.</a:t>
            </a:r>
          </a:p>
          <a:p>
            <a:pPr lvl="0" indent="-342900" marL="342900">
              <a:buAutoNum type="arabicPeriod"/>
            </a:pPr>
            <a:r>
              <a:rPr b="1"/>
              <a:t>Adjusted %MNAU</a:t>
            </a:r>
            <a:r>
              <a:rPr/>
              <a:t> — direct proportional representation across skeletal parts.</a:t>
            </a:r>
          </a:p>
          <a:p>
            <a:pPr lvl="0" indent="-342900" marL="342900">
              <a:buAutoNum type="arabicPeriod"/>
            </a:pPr>
            <a:r>
              <a:rPr b="1"/>
              <a:t>ReMNAU</a:t>
            </a:r>
            <a:r>
              <a:rPr/>
              <a:t> — relative anatomical composition after magnitude reduction.</a:t>
            </a:r>
          </a:p>
          <a:p>
            <a:pPr lvl="0" indent="-342900" marL="342900">
              <a:buAutoNum type="arabicPeriod"/>
            </a:pPr>
            <a:r>
              <a:rPr b="1"/>
              <a:t>Engineered features</a:t>
            </a:r>
            <a:r>
              <a:rPr/>
              <a:t> — abundance, dominance, continuity, density, axial/appendicular contrasts, etc.</a:t>
            </a:r>
          </a:p>
          <a:p>
            <a:pPr lvl="0" indent="-342900" marL="342900">
              <a:buAutoNum type="arabicPeriod"/>
            </a:pPr>
            <a:r>
              <a:rPr b="1"/>
              <a:t>Combined</a:t>
            </a:r>
            <a:r>
              <a:rPr/>
              <a:t> — integrates direct and engineered representations.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test whether the signal is merely “more skeleton” or whether anatomical configuration adds reproducible information.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 supervised analysis is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Unit of validation:</a:t>
            </a:r>
            <a:r>
              <a:rPr/>
              <a:t> parent archaeological site.</a:t>
            </a:r>
          </a:p>
          <a:p>
            <a:pPr lvl="0"/>
            <a:r>
              <a:rPr/>
              <a:t>Grouped cross-validation keeps all records from one site together.</a:t>
            </a:r>
          </a:p>
          <a:p>
            <a:pPr lvl="0"/>
            <a:r>
              <a:rPr/>
              <a:t>Preprocessing is estimated from training data, not from the held-out site.</a:t>
            </a:r>
          </a:p>
          <a:p>
            <a:pPr lvl="0"/>
            <a:r>
              <a:rPr/>
              <a:t>The same archaeological signal is tested across different model geometries.</a:t>
            </a:r>
          </a:p>
          <a:p>
            <a:pPr lvl="0" indent="0" marL="0">
              <a:buNone/>
            </a:pPr>
            <a:r>
              <a:rPr b="1"/>
              <a:t>Four current classifier families</a:t>
            </a:r>
          </a:p>
          <a:p>
            <a:pPr lvl="0"/>
            <a:r>
              <a:rPr/>
              <a:t>Logistic regression — interpretable linear benchmark.</a:t>
            </a:r>
          </a:p>
          <a:p>
            <a:pPr lvl="0"/>
            <a:r>
              <a:rPr/>
              <a:t>Random forest — nonlinear interactions and thresholds.</a:t>
            </a:r>
          </a:p>
          <a:p>
            <a:pPr lvl="0"/>
            <a:r>
              <a:rPr/>
              <a:t>RBF support-vector machine — smooth nonlinear boundary.</a:t>
            </a:r>
          </a:p>
          <a:p>
            <a:pPr lvl="0"/>
            <a:r>
              <a:rPr/>
              <a:t>K-nearest neighbours — local similarity in feature space.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supervised advance: the signal is reproducible</a:t>
            </a:r>
          </a:p>
        </p:txBody>
      </p:sp>
      <p:pic>
        <p:nvPicPr>
          <p:cNvPr descr="presi_fixed_files/figure-pptx/fig-perform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66900" y="1193800"/>
            <a:ext cx="5410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full-reference binary analyses reach approximately:</a:t>
            </a:r>
          </a:p>
          <a:p>
            <a:pPr lvl="0"/>
            <a:r>
              <a:rPr b="1"/>
              <a:t>Balanced accuracy: 0.86–0.89</a:t>
            </a:r>
          </a:p>
          <a:p>
            <a:pPr lvl="0"/>
            <a:r>
              <a:rPr b="1"/>
              <a:t>ROC-AUC: 0.92–0.93</a:t>
            </a:r>
            <a:r>
              <a:rPr/>
              <a:t> for the strongest current combinations.</a:t>
            </a:r>
          </a:p>
          <a:p>
            <a:pPr lvl="0" indent="0" marL="0">
              <a:buNone/>
            </a:pPr>
            <a:r>
              <a:rPr/>
              <a:t>Direct adjusted </a:t>
            </a:r>
            <a:r>
              <a:rPr b="1"/>
              <a:t>%MNAU</a:t>
            </a:r>
            <a:r>
              <a:rPr/>
              <a:t> is consistently among the strongest representations.</a:t>
            </a:r>
          </a:p>
          <a:p>
            <a:pPr lvl="0" indent="0" marL="0">
              <a:buNone/>
            </a:pPr>
            <a:r>
              <a:rPr/>
              <a:t>The key result is robustness across </a:t>
            </a:r>
            <a:r>
              <a:rPr b="1"/>
              <a:t>representations and algorithms</a:t>
            </a:r>
            <a:r>
              <a:rPr/>
              <a:t>, not one winning decimal score.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the models actually learning?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1. Overall representation is the dominant signal</a:t>
                </a:r>
              </a:p>
              <a:p>
                <a:pPr lvl="0" indent="0" marL="0">
                  <a:buNone/>
                </a:pPr>
                <a:r>
                  <a:rPr/>
                  <a:t>Mean abundance alone is already strongly predictive.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2. But “more bones = burial” is insufficient</a:t>
                </a:r>
              </a:p>
              <a:p>
                <a:pPr lvl="0"/>
                <a:r>
                  <a:rPr/>
                  <a:t>Evenness adds information.</a:t>
                </a:r>
              </a:p>
              <a:p>
                <a:pPr lvl="0"/>
                <a:r>
                  <a:rPr/>
                  <a:t>ReMNAU remains discriminative after reducing absolute magnitude.</a:t>
                </a:r>
              </a:p>
              <a:p>
                <a:pPr lvl="0"/>
                <a:r>
                  <a:rPr/>
                  <a:t>Detailed relative anatomical structure identifies </a:t>
                </a:r>
                <a:r>
                  <a:rPr i="1"/>
                  <a:t>which regions</a:t>
                </a:r>
                <a:r>
                  <a:rPr/>
                  <a:t> are selectively retained or lost.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3. PCA gives the same interpretation</a:t>
                </a:r>
              </a:p>
              <a:p>
                <a:pPr lvl="0"/>
                <a:r>
                  <a:rPr b="1"/>
                  <a:t>%MNAU PC1 ≈ whole-body abundance/completeness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0.99</m:t>
                    </m:r>
                  </m:oMath>
                </a14:m>
                <a:r>
                  <a:rPr/>
                  <a:t> with C).</a:t>
                </a:r>
              </a:p>
              <a:p>
                <a:pPr lvl="0"/>
                <a:r>
                  <a:rPr b="1"/>
                  <a:t>ReMNAU PC1 ≈ relative anatomical concentration/evenness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Unsupervised analyses provide an independent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PCA and clustering are fitted </a:t>
            </a:r>
            <a:r>
              <a:rPr b="1"/>
              <a:t>without archaeological labels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Across representations, the recurring intrinsic contrast is broadly:</a:t>
            </a:r>
          </a:p>
          <a:p>
            <a:pPr lvl="0" indent="0" marL="0">
              <a:buNone/>
            </a:pPr>
            <a:r>
              <a:rPr/>
              <a:t>[    ]</a:t>
            </a:r>
          </a:p>
          <a:p>
            <a:pPr lvl="0" indent="0" marL="0">
              <a:buNone/>
            </a:pPr>
            <a:r>
              <a:rPr/>
              <a:t>When archaeological labels are inspected afterwards, funerary and non-funerary contexts are strongly enriched on different sides of this structure.</a:t>
            </a:r>
          </a:p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supervised classifiers are exploiting organization already present in SPR space rather than creating the pattern from the labels alone.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Moving from forced labels to uncertainty: conformal prediction</a:t>
            </a:r>
          </a:p>
        </p:txBody>
      </p:sp>
      <p:pic>
        <p:nvPicPr>
          <p:cNvPr descr="presi_fixed_files/figure-pptx/fig-conforma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48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current uncertainty layer uses </a:t>
            </a:r>
            <a:r>
              <a:rPr b="1"/>
              <a:t>90% class-conditional (Mondrian) conformal prediction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Binary outputs can be:</a:t>
            </a:r>
          </a:p>
          <a:p>
            <a:pPr lvl="0"/>
            <a:r>
              <a:rPr>
                <a:latin typeface="Courier"/>
              </a:rPr>
              <a:t>{F}</a:t>
            </a:r>
            <a:r>
              <a:rPr/>
              <a:t> — only the funerary reference class retained.</a:t>
            </a:r>
          </a:p>
          <a:p>
            <a:pPr lvl="0"/>
            <a:r>
              <a:rPr>
                <a:latin typeface="Courier"/>
              </a:rPr>
              <a:t>{NF}</a:t>
            </a:r>
            <a:r>
              <a:rPr/>
              <a:t> — only the non-funerary reference class retained.</a:t>
            </a:r>
          </a:p>
          <a:p>
            <a:pPr lvl="0"/>
            <a:r>
              <a:rPr>
                <a:latin typeface="Courier"/>
              </a:rPr>
              <a:t>{F, NF}</a:t>
            </a:r>
            <a:r>
              <a:rPr/>
              <a:t> — both retained: the assemblage is compatible with both reference distributions.</a:t>
            </a:r>
          </a:p>
          <a:p>
            <a:pPr lvl="0" indent="0" marL="0">
              <a:buNone/>
            </a:pPr>
            <a:r>
              <a:rPr/>
              <a:t>A singleton set is </a:t>
            </a:r>
            <a:r>
              <a:rPr b="1"/>
              <a:t>not</a:t>
            </a:r>
            <a:r>
              <a:rPr/>
              <a:t> “90% probability of burial.” The 90% refers to repeated-sampling coverage under the conformal assumptions.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Sima de los Huesos: a recovery trajectory</a:t>
            </a:r>
          </a:p>
        </p:txBody>
      </p:sp>
      <p:pic>
        <p:nvPicPr>
          <p:cNvPr descr="presi_fixed_files/figure-pptx/fig-sim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66900" y="1193800"/>
            <a:ext cx="5410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sequence </a:t>
            </a:r>
            <a:r>
              <a:rPr b="1"/>
              <a:t>1989 → 1990 → 1995 → 2015 → 2024 → PNAS</a:t>
            </a:r>
            <a:r>
              <a:rPr/>
              <a:t> is interpreted as successive recovery/publication states of the </a:t>
            </a:r>
            <a:r>
              <a:rPr b="1"/>
              <a:t>same accumulation</a:t>
            </a:r>
            <a:r>
              <a:rPr/>
              <a:t>, not changing prehistoric behaviour.</a:t>
            </a:r>
          </a:p>
          <a:p>
            <a:pPr lvl="0"/>
            <a:r>
              <a:rPr/>
              <a:t>1989–1990: sparse, predominantly NF-like / ambiguous SPR.</a:t>
            </a:r>
          </a:p>
          <a:p>
            <a:pPr lvl="0"/>
            <a:r>
              <a:rPr/>
              <a:t>1995: major increase in whole-body representation.</a:t>
            </a:r>
          </a:p>
          <a:p>
            <a:pPr lvl="0"/>
            <a:r>
              <a:rPr/>
              <a:t>2015–2024–PNAS: consistently high funerary-reference affinity.</a:t>
            </a:r>
          </a:p>
          <a:p>
            <a:pPr lvl="0" indent="0" marL="0">
              <a:buNone/>
            </a:pPr>
            <a:r>
              <a:rPr/>
              <a:t>The archaeological inference is stronger evidence for </a:t>
            </a:r>
            <a:r>
              <a:rPr b="1"/>
              <a:t>relatively complete whole-body input and lower anatomical selectivity</a:t>
            </a:r>
            <a:r>
              <a:rPr/>
              <a:t>, not a direct proof of funerary intention.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Beyond the binary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study now tests several related classification problems:</a:t>
            </a:r>
          </a:p>
          <a:p>
            <a:pPr lvl="0" indent="0" marL="0">
              <a:buNone/>
            </a:pPr>
            <a:r>
              <a:rPr b="1"/>
              <a:t>Primary:</a:t>
            </a:r>
            <a:r>
              <a:rPr/>
              <a:t> Funerary vs non-funerary.</a:t>
            </a:r>
          </a:p>
          <a:p>
            <a:pPr lvl="0" indent="0" marL="0">
              <a:buNone/>
            </a:pPr>
            <a:r>
              <a:rPr b="1"/>
              <a:t>Four-process:</a:t>
            </a:r>
            <a:r>
              <a:rPr/>
              <a:t> - Funerary Context - Cannibalism / anthropogenic processing - Carnivore-related - Geological transport</a:t>
            </a:r>
          </a:p>
          <a:p>
            <a:pPr lvl="0" indent="0" marL="0">
              <a:buNone/>
            </a:pPr>
            <a:r>
              <a:rPr b="1"/>
              <a:t>Conditional non-funerary task:</a:t>
            </a:r>
            <a:r>
              <a:rPr/>
              <a:t> - Cannibalism vs Carnivore vs Geological transport</a:t>
            </a:r>
          </a:p>
          <a:p>
            <a:pPr lvl="0" indent="0" marL="0">
              <a:buNone/>
            </a:pPr>
            <a:r>
              <a:rPr b="1"/>
              <a:t>Conditional human-associated comparison:</a:t>
            </a:r>
            <a:r>
              <a:rPr/>
              <a:t> - Cannibalism-reference vs Funerary-reference distributions</a:t>
            </a:r>
          </a:p>
          <a:p>
            <a:pPr lvl="0" indent="0" marL="0">
              <a:buNone/>
            </a:pPr>
            <a:r>
              <a:rPr/>
              <a:t>This extends the question from </a:t>
            </a:r>
            <a:r>
              <a:rPr b="1"/>
              <a:t>“broad whole-body retention or not?”</a:t>
            </a:r>
            <a:r>
              <a:rPr/>
              <a:t> toward </a:t>
            </a:r>
            <a:r>
              <a:rPr b="1"/>
              <a:t>“what kind of selective profile is present?”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anatomical regions carry the secondary signal?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composition is normalized, the clearest positive funerary-reference shifts repeatedly involve:</a:t>
            </a:r>
          </a:p>
          <a:p>
            <a:pPr lvl="0" indent="0" marL="0">
              <a:buNone/>
            </a:pPr>
            <a:r>
              <a:rPr b="1"/>
              <a:t>radius · ulna · vertebrae · hands · clavicle · foot · scapula</a:t>
            </a:r>
          </a:p>
          <a:p>
            <a:pPr lvl="0" indent="0" marL="0">
              <a:buNone/>
            </a:pPr>
            <a:r>
              <a:rPr/>
              <a:t>The broad pattern is not simply “more limbs.” It is retention of a wider anatomical range, including:</a:t>
            </a:r>
          </a:p>
          <a:p>
            <a:pPr lvl="0"/>
            <a:r>
              <a:rPr/>
              <a:t>forearm elements;</a:t>
            </a:r>
          </a:p>
          <a:p>
            <a:pPr lvl="0"/>
            <a:r>
              <a:rPr/>
              <a:t>axial skeleton;</a:t>
            </a:r>
          </a:p>
          <a:p>
            <a:pPr lvl="0"/>
            <a:r>
              <a:rPr/>
              <a:t>hands and distal elements;</a:t>
            </a:r>
          </a:p>
          <a:p>
            <a:pPr lvl="0"/>
            <a:r>
              <a:rPr/>
              <a:t>shoulder-girdle elements.</a:t>
            </a:r>
          </a:p>
          <a:p>
            <a:pPr lvl="0" indent="0" marL="0">
              <a:buNone/>
            </a:pPr>
            <a:r>
              <a:rPr/>
              <a:t>These are frequently reduced in selective non-funerary profiles.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Taphonomic interpretation: from classification to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feature-engineering and RFE stage ranks </a:t>
            </a:r>
            <a:r>
              <a:rPr b="1"/>
              <a:t>63 taphonomic/anatomical variables</a:t>
            </a:r>
            <a:r>
              <a:rPr/>
              <a:t>, with a reduced analytical core of </a:t>
            </a:r>
            <a:r>
              <a:rPr b="1"/>
              <a:t>10 retained variables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retained core emphasizes:</a:t>
            </a:r>
          </a:p>
          <a:p>
            <a:pPr lvl="0"/>
            <a:r>
              <a:rPr/>
              <a:t>postcranial completeness;</a:t>
            </a:r>
          </a:p>
          <a:p>
            <a:pPr lvl="0"/>
            <a:r>
              <a:rPr/>
              <a:t>appendicular representation;</a:t>
            </a:r>
          </a:p>
          <a:p>
            <a:pPr lvl="0"/>
            <a:r>
              <a:rPr/>
              <a:t>upper vs lower and proximal vs distal limbs;</a:t>
            </a:r>
          </a:p>
          <a:p>
            <a:pPr lvl="0"/>
            <a:r>
              <a:rPr/>
              <a:t>girdle representation;</a:t>
            </a:r>
          </a:p>
          <a:p>
            <a:pPr lvl="0"/>
            <a:r>
              <a:rPr/>
              <a:t>foot representation;</a:t>
            </a:r>
          </a:p>
          <a:p>
            <a:pPr lvl="0"/>
            <a:r>
              <a:rPr/>
              <a:t>low-density survival.</a:t>
            </a:r>
          </a:p>
          <a:p>
            <a:pPr lvl="0" indent="0" marL="0">
              <a:buNone/>
            </a:pPr>
            <a:r>
              <a:rPr/>
              <a:t>A separate automated workflow tests </a:t>
            </a:r>
            <a:r>
              <a:rPr b="1"/>
              <a:t>eight metadata-driven hypotheses</a:t>
            </a:r>
            <a:r>
              <a:rPr/>
              <a:t> using:</a:t>
            </a:r>
          </a:p>
          <a:p>
            <a:pPr lvl="0" indent="0" marL="0">
              <a:buNone/>
            </a:pPr>
            <a:r>
              <a:rPr b="1"/>
              <a:t>Kruskal–Wallis → effect sizes → FDR → Dunn tests → PCA → PERMANOVA / dispersion checks.</a:t>
            </a:r>
          </a:p>
          <a:p>
            <a:pPr lvl="0" indent="0" marL="0">
              <a:buNone/>
            </a:pPr>
            <a:r>
              <a:rPr/>
              <a:t>This asks </a:t>
            </a:r>
            <a:r>
              <a:rPr i="1"/>
              <a:t>why</a:t>
            </a:r>
            <a:r>
              <a:rPr/>
              <a:t> different SPR profiles occur, not merely whether they can be classified.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methodological advance: how much anatomical detail is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project also evaluates approximately </a:t>
            </a:r>
            <a:r>
              <a:rPr b="1"/>
              <a:t>1,000 alternative skeletal-resolution vectors per task</a:t>
            </a:r>
            <a:r>
              <a:rPr/>
              <a:t> across 11 skeletal sections:</a:t>
            </a:r>
          </a:p>
          <a:p>
            <a:pPr lvl="0" indent="0" marL="0">
              <a:buNone/>
            </a:pPr>
            <a:r>
              <a:rPr b="1"/>
              <a:t>cranium · teeth · hyoid · vertebrae · thorax · shoulder · arms · hands · pelvis · legs · foot</a:t>
            </a:r>
          </a:p>
          <a:p>
            <a:pPr lvl="0" indent="0" marL="0">
              <a:buNone/>
            </a:pPr>
            <a:r>
              <a:rPr/>
              <a:t>Candidate schemes are evaluated using:</a:t>
            </a:r>
          </a:p>
          <a:p>
            <a:pPr lvl="0"/>
            <a:r>
              <a:rPr/>
              <a:t>macro-F1 as the main ranking criterion;</a:t>
            </a:r>
          </a:p>
          <a:p>
            <a:pPr lvl="0"/>
            <a:r>
              <a:rPr/>
              <a:t>minimum class recall;</a:t>
            </a:r>
          </a:p>
          <a:p>
            <a:pPr lvl="0"/>
            <a:r>
              <a:rPr/>
              <a:t>performance variability;</a:t>
            </a:r>
          </a:p>
          <a:p>
            <a:pPr lvl="0"/>
            <a:r>
              <a:rPr/>
              <a:t>balanced accuracy;</a:t>
            </a:r>
          </a:p>
          <a:p>
            <a:pPr lvl="0"/>
            <a:r>
              <a:rPr/>
              <a:t>overall accuracy.</a:t>
            </a:r>
          </a:p>
          <a:p>
            <a:pPr lvl="0" indent="0" marL="0">
              <a:buNone/>
            </a:pPr>
            <a:r>
              <a:rPr/>
              <a:t>The study then asks which section-specific increases in detail improve performance after adjusting for all other sections.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evidence chain now in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Measurement</a:t>
            </a:r>
            <a:br/>
            <a:r>
              <a:rPr/>
              <a:t>SPR can be expressed as abundance, evenness, direct %MNAU, relative composition, and taphonomic summaries.</a:t>
            </a:r>
          </a:p>
          <a:p>
            <a:pPr lvl="0" indent="0" marL="0">
              <a:buNone/>
            </a:pPr>
            <a:r>
              <a:rPr b="1"/>
              <a:t>2. Prediction</a:t>
            </a:r>
            <a:br/>
            <a:r>
              <a:rPr/>
              <a:t>Known reference contexts are discriminated with strong grouped out-of-sample performance.</a:t>
            </a:r>
          </a:p>
          <a:p>
            <a:pPr lvl="0" indent="0" marL="0">
              <a:buNone/>
            </a:pPr>
            <a:r>
              <a:rPr b="1"/>
              <a:t>3. Robustness</a:t>
            </a:r>
            <a:br/>
            <a:r>
              <a:rPr/>
              <a:t>The result persists across feature spaces and classifier families.</a:t>
            </a:r>
          </a:p>
          <a:p>
            <a:pPr lvl="0" indent="0" marL="0">
              <a:buNone/>
            </a:pPr>
            <a:r>
              <a:rPr b="1"/>
              <a:t>4. Independent structure</a:t>
            </a:r>
            <a:br/>
            <a:r>
              <a:rPr/>
              <a:t>Unsupervised analyses recover the same broad organization.</a:t>
            </a:r>
          </a:p>
          <a:p>
            <a:pPr lvl="0" indent="0" marL="0">
              <a:buNone/>
            </a:pPr>
            <a:r>
              <a:rPr b="1"/>
              <a:t>5. Uncertainty</a:t>
            </a:r>
            <a:br/>
            <a:r>
              <a:rPr/>
              <a:t>Conformal sets distinguish confident from ambiguous cases.</a:t>
            </a:r>
          </a:p>
          <a:p>
            <a:pPr lvl="0" indent="0" marL="0">
              <a:buNone/>
            </a:pPr>
            <a:r>
              <a:rPr b="1"/>
              <a:t>6. Archaeological application</a:t>
            </a:r>
            <a:br/>
            <a:r>
              <a:rPr/>
              <a:t>Sima and other target assemblages can be positioned relative to the reference distributions.</a:t>
            </a:r>
          </a:p>
          <a:p>
            <a:pPr lvl="0" indent="0" marL="0">
              <a:buNone/>
            </a:pPr>
            <a:r>
              <a:rPr b="1"/>
              <a:t>7. Explanation and design</a:t>
            </a:r>
            <a:br/>
            <a:r>
              <a:rPr/>
              <a:t>Feature-selection, taphonomic hypotheses, and skeletal-resolution experiments identify what information drives the signal.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scientific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Skeletal-part representation contains a strong and reproducible signal related to depositional context.</a:t>
            </a:r>
          </a:p>
          <a:p>
            <a:pPr lvl="0" indent="0" marL="0">
              <a:buNone/>
            </a:pPr>
            <a:r>
              <a:rPr/>
              <a:t>The signal is dominated by:</a:t>
            </a:r>
          </a:p>
          <a:p>
            <a:pPr lvl="0" indent="0" marL="0">
              <a:buNone/>
            </a:pPr>
            <a:r>
              <a:rPr/>
              <a:t>[  +  +  ]</a:t>
            </a:r>
          </a:p>
          <a:p>
            <a:pPr lvl="0" indent="0" marL="0">
              <a:buNone/>
            </a:pPr>
            <a:r>
              <a:rPr/>
              <a:t>The appropriate interpretation is </a:t>
            </a:r>
            <a:r>
              <a:rPr b="1"/>
              <a:t>probabilistic funerary-reference affinity and degree of whole-body retention</a:t>
            </a:r>
            <a:r>
              <a:rPr/>
              <a:t>, not a diagnostic test of past intention.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Discussion</a:t>
            </a:r>
          </a:p>
          <a:p>
            <a:pPr lvl="0"/>
            <a:r>
              <a:rPr/>
              <a:t>Which archaeological comparisons are most informative next?</a:t>
            </a:r>
          </a:p>
          <a:p>
            <a:pPr lvl="0"/>
            <a:r>
              <a:rPr/>
              <a:t>Which taphonomic variables best explain the remaining overlap?</a:t>
            </a:r>
          </a:p>
          <a:p>
            <a:pPr lvl="0"/>
            <a:r>
              <a:rPr/>
              <a:t>At what anatomical resolution do we gain useful signal rather than additional complexity?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 material used for this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presentation synthesizes the uploaded project documents and scripts, especially:</a:t>
            </a:r>
          </a:p>
          <a:p>
            <a:pPr lvl="0"/>
            <a:r>
              <a:rPr>
                <a:latin typeface="Courier"/>
              </a:rPr>
              <a:t>SPR_structured_results_writeup(3).md</a:t>
            </a:r>
          </a:p>
          <a:p>
            <a:pPr lvl="0"/>
            <a:r>
              <a:rPr>
                <a:latin typeface="Courier"/>
              </a:rPr>
              <a:t>SPR_structured_writeup(3).md</a:t>
            </a:r>
          </a:p>
          <a:p>
            <a:pPr lvl="0"/>
            <a:r>
              <a:rPr>
                <a:latin typeface="Courier"/>
              </a:rPr>
              <a:t>SPR_ML_structured_synthesis(3).md</a:t>
            </a:r>
          </a:p>
          <a:p>
            <a:pPr lvl="0"/>
            <a:r>
              <a:rPr>
                <a:latin typeface="Courier"/>
              </a:rPr>
              <a:t>automated_skeletal_workflow(4/5).R</a:t>
            </a:r>
          </a:p>
          <a:p>
            <a:pPr lvl="0"/>
            <a:r>
              <a:rPr>
                <a:latin typeface="Courier"/>
              </a:rPr>
              <a:t>collect_scores_by_level(2).R</a:t>
            </a:r>
          </a:p>
          <a:p>
            <a:pPr lvl="0"/>
            <a:r>
              <a:rPr>
                <a:latin typeface="Courier"/>
              </a:rPr>
              <a:t>q1_level_accuracy_analysis_V4_NO_EMMEANS(2).R</a:t>
            </a:r>
          </a:p>
          <a:p>
            <a:pPr lvl="0"/>
            <a:r>
              <a:rPr/>
              <a:t>classification consolidation and level-plotting scripts</a:t>
            </a:r>
          </a:p>
          <a:p>
            <a:pPr lvl="0" indent="0" marL="0">
              <a:buNone/>
            </a:pPr>
            <a:r>
              <a:rPr/>
              <a:t>The deck deliberately focuses on </a:t>
            </a:r>
            <a:r>
              <a:rPr b="1"/>
              <a:t>scientific advances completed to date</a:t>
            </a:r>
            <a:r>
              <a:rPr/>
              <a:t> and omits workflow-refinement / streamlining issues.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Skeletal-Part Representation and Depositional Context</dc:title>
  <dc:creator>Research update</dc:creator>
  <cp:keywords/>
  <dcterms:created xsi:type="dcterms:W3CDTF">2026-09-29T08:41:05Z</dcterms:created>
  <dcterms:modified xsi:type="dcterms:W3CDTF">2026-09-29T08:41:05Z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Study advances to date — a catch-up from first principles</vt:lpwstr>
  </property>
  <property fmtid="{D5CDD505-2E9C-101B-9397-08002B2CF9AE}" pid="11" name="toc-title">
    <vt:lpwstr>Table of contents</vt:lpwstr>
  </property>
</Properties>
</file>